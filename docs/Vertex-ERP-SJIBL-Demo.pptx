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open with architecture. Open with their problem. Shake hands, name the three firms, move on within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slowly. You are describing their working life back to them. If they nod here, the rest of the meeting is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ninety seconds. They already have the corporate documents. Do not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22 minutes. Say: most of this meeting is the working system, not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here. Do not come back to slides until the audit chain has been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the IT Division. If they only remember one thing, it should be that the refusals happen in the data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the detail, offer the line-by-line mapping afterwards. Do not read 298 rows on a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say the software knows Shariah. Say: we built the mechanism, your Committee owns the judgement.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'why are you not the cheapest bid'. Let the 1.22 crore sit for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warmly but do not open the scope wide. The phrase is: no change to the licence price, sequenced into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to land: if it is going wrong you will know in week four, not week twelve.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payment provider decision explicitly. It is the one item that can stall the project and it is entirely in their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first line out loud and without apology. They already know you are not cheapest.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on screen for questions. Do not go back through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ERP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Software with an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workflow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502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Shahjalal Islami Bank PLC · Common Services Division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3291840" cy="18288"/>
          </a:xfrm>
          <a:prstGeom prst="rect">
            <a:avLst/>
          </a:prstGeom>
          <a:solidFill>
            <a:srgbClr val="0B5D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· 21 September 2026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Fintech  ·  Harvest Partners  ·  Nascenia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purchase today starts on paper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built anything, we walked the process Common Services runs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10896" cy="310896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993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begins on paper and moves between desks.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9933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say where it is without telephoning.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310896" cy="310896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06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limits live in a policy document.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70662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they are followed depends on people remembering.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310896" cy="310896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4198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the store from the requisition.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41985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buys what it already owns.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51376"/>
            <a:ext cx="310896" cy="310896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1330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what was paid last time.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1330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drift upward and nothing notices.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864608"/>
            <a:ext cx="310896" cy="310896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846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sit in files across divisions.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8463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procurement history is a two-week manual job.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42432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4F7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74243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failure of the people. It is what happens when the process has no system underneath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DELIVERING THIS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firms, one delivery team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contract, one project manager, one technical account lead — named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7F5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395728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62656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Fintech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34670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delivery partner. Commercial and contractual presence in market, and the Bank's first point of contact.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71416" y="210312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4024" y="2395728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64024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962656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 Partners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334670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engineering. The workflow engine, the controls, the audit chain and the application you are about to see.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02752" y="210312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7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0" y="2395728"/>
            <a:ext cx="420624" cy="42062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9536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962656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Nascenia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34670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3675888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capacity and long-term local support, so the Bank is never dependent on a single office.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Bidder qualification, experience certificates and corporate documents are as submitted with the technical bid.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use the next fifty minutes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is the system itself. We would rather show you than describe.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237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237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delivering this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2523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" y="2962656"/>
            <a:ext cx="11137392" cy="512064"/>
          </a:xfrm>
          <a:prstGeom prst="roundRect">
            <a:avLst>
              <a:gd name="adj" fmla="val 10714"/>
            </a:avLst>
          </a:prstGeom>
          <a:solidFill>
            <a:srgbClr val="F4F7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358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035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one purchase, start to finish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3035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478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547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against Annexure-A and Annexure-B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35478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2064" y="3986784"/>
            <a:ext cx="11137392" cy="512064"/>
          </a:xfrm>
          <a:prstGeom prst="roundRect">
            <a:avLst>
              <a:gd name="adj" fmla="val 10714"/>
            </a:avLst>
          </a:prstGeom>
          <a:solidFill>
            <a:srgbClr val="F4F7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599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0599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beyond the specification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40599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after the work order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840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0840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50840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96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5596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5596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120640" cy="512064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purchase,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to finish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people. A requisition, a tender, three bidders, a work order, a delivery and a payment — on this laptop, with the wi-fi switched off.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SAW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controls the system enforces absolutely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policy. Not a setting someone can turn off. Refused inside the transaction that would have made the change.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365760" cy="36576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10312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raises a document can never approve it — including as an administrator.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365760" cy="36576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834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Two-envelope seal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8346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bidder's price cannot be read until technical evaluation is complete. RFQ clause 1.9.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365760" cy="36576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matching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5661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 order cannot exceed the quantity the requisition approved.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315968"/>
            <a:ext cx="365760" cy="36576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2976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2976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can only bill what was received and accepted, at the ordered price.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047488"/>
            <a:ext cx="365760" cy="36576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0292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069080" y="50292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locked to the one before it. Any edit or deletion is detectable.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97296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0726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797296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automated control tests · 99 screens checked · the full sequence above re-run in a real browser before every release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ANNEXURE-A AND ANNEXURE-B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25 modules, mapped line by 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went back through your own Annexure-B and mapped every sub-feature to what exists today.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25 modules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148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sub-features mapped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document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148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07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working screen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them today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148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715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written scope,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0881360" cy="10973"/>
          </a:xfrm>
          <a:prstGeom prst="rect">
            <a:avLst/>
          </a:prstGeom>
          <a:solidFill>
            <a:srgbClr val="DFE4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416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end to end — you can perform the action now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4087368"/>
            <a:ext cx="2611870" cy="219456"/>
          </a:xfrm>
          <a:prstGeom prst="roundRect">
            <a:avLst>
              <a:gd name="adj" fmla="val 12500"/>
            </a:avLst>
          </a:prstGeom>
          <a:solidFill>
            <a:srgbClr val="0B5D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3486" y="4059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544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 — real data, action wired during implementation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4590288"/>
            <a:ext cx="1747793" cy="219456"/>
          </a:xfrm>
          <a:prstGeom prst="roundRect">
            <a:avLst>
              <a:gd name="adj" fmla="val 12500"/>
            </a:avLst>
          </a:prstGeom>
          <a:solidFill>
            <a:srgbClr val="3F8F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9409" y="45628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474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for the build phase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5093208"/>
            <a:ext cx="1256840" cy="219456"/>
          </a:xfrm>
          <a:prstGeom prst="roundRect">
            <a:avLst>
              <a:gd name="adj" fmla="val 12500"/>
            </a:avLst>
          </a:prstGeom>
          <a:solidFill>
            <a:srgbClr val="B9C6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28456" y="5065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504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 our bid as needing customisation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5596128"/>
            <a:ext cx="256032" cy="219456"/>
          </a:xfrm>
          <a:prstGeom prst="roundRect">
            <a:avLst>
              <a:gd name="adj" fmla="val 12500"/>
            </a:avLst>
          </a:prstGeom>
          <a:solidFill>
            <a:srgbClr val="B07D1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27648" y="5568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44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 customisation items are the ones we declared honestly in the bid rather than claiming. They have not changed.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SPECIFICATION —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specification never mentions Shariah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RFQ, Annexure-A and Annexure-B, the word does not appear once. We built for it anyway.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629400" cy="3310128"/>
          </a:xfrm>
          <a:prstGeom prst="roundRect">
            <a:avLst>
              <a:gd name="adj" fmla="val 1657"/>
            </a:avLst>
          </a:prstGeom>
          <a:solidFill>
            <a:srgbClr val="F4F7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408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61488"/>
            <a:ext cx="5989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Shariah Supervisory Committee as an approval authority in its own right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of vendors, contracts and work orders against the Committee's own rules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contract structures per agreement — Murabaha, Ijarah, Istisna, Salam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certification tracked against canteen supply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decision record, written to the audit trail under the member's name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35240" y="2103120"/>
            <a:ext cx="3886200" cy="3310128"/>
          </a:xfrm>
          <a:prstGeom prst="roundRect">
            <a:avLst>
              <a:gd name="adj" fmla="val 1657"/>
            </a:avLst>
          </a:prstGeom>
          <a:solidFill>
            <a:srgbClr val="0726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36992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we take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36992" y="2706624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system contains no Shariah rulings and makes none.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936992" y="3803904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the rules your Committee issues, applies them mechanically, and refers what they catch back to your Committee for a human decision.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role can record a decision on the Committee's behalf — not even the system administrator.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61441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Committee rules · eleven documents awaiting decision · every rule cites the minute that created 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984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set shipped in this demonstration is illustrative. Your Committee's own would replace it during implementation.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SPECIFICATION —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added seven tests you never asked for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specification asks us to record procurement. It never asks us to examine it. These run over what you already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274320" cy="27432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purchase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2432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small orders that together cross an approval limit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212848"/>
            <a:ext cx="274320" cy="27432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48656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drift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432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materially more than this Bank has paid before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07792"/>
            <a:ext cx="274320" cy="27432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2871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127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your spend sits with one supplier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07792"/>
            <a:ext cx="274320" cy="27432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871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clustering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48656" y="31272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arriving suspiciously close together in 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02736"/>
            <a:ext cx="274320" cy="27432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winner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3822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supplier winning an unusual share of tenders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602736"/>
            <a:ext cx="274320" cy="274320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approval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48656" y="3822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too quickly for anyone to have read 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274320" cy="274320"/>
          </a:xfrm>
          <a:prstGeom prst="ellipse">
            <a:avLst/>
          </a:prstGeom>
          <a:solidFill>
            <a:srgbClr val="3F8F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bid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45171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tender that drew no competition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87968" y="2212848"/>
            <a:ext cx="2633472" cy="2487168"/>
          </a:xfrm>
          <a:prstGeom prst="roundRect">
            <a:avLst>
              <a:gd name="adj" fmla="val 2206"/>
            </a:avLst>
          </a:prstGeom>
          <a:solidFill>
            <a:srgbClr val="07261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0" y="24323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against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017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raised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39684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7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৳ 1,22,53,546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3342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question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01091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4F7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501091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a question, not an accusation. Each one has an innocent explanation available and the wording says so. The system puts the question in front of a person with the evidence attached — it does not decide.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9253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data capture. No extra work for anyone. No integration. It runs on procurement you already record.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we quoted, at the price we quoted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Annexure-A and Annexure-B is fixed scope at the price already submitted. These are in addition.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0726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built, and neither was requested:   Shariah governance   ·   Procurement integrity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these we will build into the delivery roadmap at no change to the licence price: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3649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screening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9417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vendors through the same sanctions, PEP and CIB checks you already run on customers.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71416" y="318211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27448" y="33649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pack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369417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button: every procurement decision in a period, with approval chains, ready for Bangladesh Bank.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02752" y="318211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58784" y="33649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auditor access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58784" y="369417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external audit see everything, change nothing, and stop asking IT for exports.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4515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828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scoring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515721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punctuality, rejection rates and penalty history, scored automatically.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71416" y="464515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27448" y="4828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commitment 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515721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but not yet invoiced — the number Finance needs and rarely has.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02752" y="4645152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4F7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58784" y="4828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assistant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58784" y="5157216"/>
            <a:ext cx="30083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own procurement policy a question and get the answer with the clause it came from.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996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which matters most and we will sequence it first. We would rather agree the order than sell you modules.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WORK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Sixty to ninety working days, in seven steps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a running system in week three, and again every fortnight after that.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75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751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95681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in one room. We ask who owns each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51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rules, configured with you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551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53288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policy and delegation matrix, entered in the builder you just saw, signed off before anything is locked.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27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configure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127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3-8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1089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becomes your system. It is the foundation, not a throwaway.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39896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703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6-10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68503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CBS, HRMS, DMS, e-mail, SMS and IAM through the middleware tier. Each tested alone first.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15968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279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moves in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2793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8-11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426110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Vendors, contracts, assets, stock, budgets. You hand us your lists — nobody retypes years of records.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892040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4855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it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8554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10-12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483717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UAT environment, with acceptance criteria agreed in advance.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468112"/>
            <a:ext cx="329184" cy="329184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5431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go-live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54315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12-13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989320" y="541324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streams: IT Division, Common Services, branch and head office. Then division by division.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61081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" y="61081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twelve months of warranty: 24×7 helpdesk, SLA-backed response, and any change a regulatory shift requires at no cost.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from your side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350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onerous, and two of the three are documents you already have.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4F7F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96896"/>
            <a:ext cx="438912" cy="43891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People, for three weeks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4871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much of their time — but the right people. Whoever owns the procurement policy, the delegation of authority, and CBS access.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4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968496"/>
            <a:ext cx="438912" cy="43891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documents and access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8587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procurement policy as it actually stands, the delegation matrix, and credentials for CBS, HRMS and the gateways.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56048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4F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5340096"/>
            <a:ext cx="438912" cy="43891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40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230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decision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52303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payment service provider. This is the single item genuinely blocked until you choose, and it affects six modules.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2743200"/>
            <a:ext cx="5120640" cy="512064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the lowest bid.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is what you get instead.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990088"/>
            <a:ext cx="347472" cy="34747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971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refuses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95351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you saw is enforced in the data layer, not written in a manual. That is the difference between a policy and a guarantee.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76472"/>
            <a:ext cx="347472" cy="34747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581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who read your business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39896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asked us for Shariah governance or procurement integrity. We built both because you are an Islami bank that buys things.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347472" cy="34747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562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5445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by design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526280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workflows, your reports, your roles, your rules. Full documentation handover. You are never locked in to us.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347472" cy="347472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349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330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quoted, same price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31266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F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modules already delivered beyond scope, and six more sequenced into the roadmap at no change to the licence price.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834640"/>
            <a:ext cx="6035040" cy="6035040"/>
          </a:xfrm>
          <a:prstGeom prst="ellipse">
            <a:avLst/>
          </a:prstGeom>
          <a:solidFill>
            <a:srgbClr val="0B5D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answer questions than present. Ask us anything, including the parts we have not built yet.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3291840" cy="18288"/>
          </a:xfrm>
          <a:prstGeom prst="rect">
            <a:avLst/>
          </a:prstGeom>
          <a:solidFill>
            <a:srgbClr val="0B5D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ERP  ·  Shahjalal Islami Bank PLC  ·  Common Services Division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8F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Fintech  ·  Harvest Partners  ·  Nascenia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 ERP — Shahjalal Islami Bank PLC</dc:title>
  <dc:subject>PptxGenJS Presentation</dc:subject>
  <dc:creator>Harvest Partners (HK) Limited</dc:creator>
  <cp:lastModifiedBy>Harvest Partners (HK) Limited</cp:lastModifiedBy>
  <cp:revision>1</cp:revision>
  <dcterms:created xsi:type="dcterms:W3CDTF">2026-09-20T02:21:03Z</dcterms:created>
  <dcterms:modified xsi:type="dcterms:W3CDTF">2026-09-20T02:21:03Z</dcterms:modified>
</cp:coreProperties>
</file>